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70" r:id="rId2"/>
    <p:sldId id="277" r:id="rId3"/>
    <p:sldId id="279" r:id="rId4"/>
    <p:sldId id="274" r:id="rId5"/>
    <p:sldId id="282" r:id="rId6"/>
    <p:sldId id="272" r:id="rId7"/>
    <p:sldId id="265" r:id="rId8"/>
    <p:sldId id="273" r:id="rId9"/>
    <p:sldId id="269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811"/>
    <p:restoredTop sz="94658"/>
  </p:normalViewPr>
  <p:slideViewPr>
    <p:cSldViewPr snapToGrid="0">
      <p:cViewPr varScale="1">
        <p:scale>
          <a:sx n="115" d="100"/>
          <a:sy n="115" d="100"/>
        </p:scale>
        <p:origin x="232" y="3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DC8BE-B65C-B08D-909B-7864A5DA50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06DD99-B220-1038-B871-615CBC8DEC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E3A262-75E2-CB2D-852B-EC7CC7FAEE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392B3-7B8C-CE4B-981A-32CE39740B89}" type="datetimeFigureOut">
              <a:rPr lang="en-US" smtClean="0"/>
              <a:t>9/21/26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758A01-86B9-DD6D-8E6C-7C3B6464C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2C10DE-35B9-4C3A-E20B-120DE5CEA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FEA2E-59FB-C74A-B1F1-E5605A5EE9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0799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4F026-D24A-D8D9-9FF2-D12C3A3E27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29C02F-7931-8675-C390-C9449BF5EC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48EF91-5687-554C-1FB2-3F962187F5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392B3-7B8C-CE4B-981A-32CE39740B89}" type="datetimeFigureOut">
              <a:rPr lang="en-US" smtClean="0"/>
              <a:t>9/21/26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BCDFA9-3377-7349-F61D-DBD60D1231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B01475-3550-CBDD-9390-AEA4C2316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FEA2E-59FB-C74A-B1F1-E5605A5EE9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2487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6B68AA-8E07-50F9-C25F-1B8C335F19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CD3E49-AC20-8E9D-28B2-56635AC06D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E73ABE-AC8C-8E81-1B08-BEF62E1FDA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392B3-7B8C-CE4B-981A-32CE39740B89}" type="datetimeFigureOut">
              <a:rPr lang="en-US" smtClean="0"/>
              <a:t>9/21/26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B225DA-0DBA-50E0-AEBC-DBBB11301F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7C8FBD-C8B5-B266-258E-3AC650DE7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FEA2E-59FB-C74A-B1F1-E5605A5EE9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0106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79F7D-A9A2-DDCC-E24F-429A5B815B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68D745-DDFB-00AB-8F59-8BB17DE967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B8D2C0-8AE2-26FA-5A42-DC422B5E75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1B51ED-3A58-10B8-3090-2C6CDC2762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392B3-7B8C-CE4B-981A-32CE39740B89}" type="datetimeFigureOut">
              <a:rPr lang="en-US" smtClean="0"/>
              <a:t>9/21/26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661E64-1720-FFD7-A09D-41C4867D4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A3002E-E67F-A0DC-670F-6E0408CBA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FEA2E-59FB-C74A-B1F1-E5605A5EE9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1250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201292-5D57-8F63-458E-AD6603615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D1E62A-95E1-294D-508B-6E958C8887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90C64E-22C0-EE00-440B-03EC97F9E9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9E58C07-154D-BDFA-1782-C90CF71B8B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A80492-1F9A-5DAF-EC93-429D80E4B0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4069D2A-37BA-64DE-CFC8-34C01C3E76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392B3-7B8C-CE4B-981A-32CE39740B89}" type="datetimeFigureOut">
              <a:rPr lang="en-US" smtClean="0"/>
              <a:t>9/21/26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8697A36-5B2E-FC8B-435B-C0BCE0E76F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35B3617-7128-61D3-D004-804C8C88C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FEA2E-59FB-C74A-B1F1-E5605A5EE9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4983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D74D33-4DA2-B4F1-D485-65EFAFB7C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4C699D0-9381-D87E-60E6-22D2AA33B4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392B3-7B8C-CE4B-981A-32CE39740B89}" type="datetimeFigureOut">
              <a:rPr lang="en-US" smtClean="0"/>
              <a:t>9/21/26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5DADB2-823E-681F-1D77-0506D1704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294BD1-A0C3-8467-A5C5-0866E2493F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FEA2E-59FB-C74A-B1F1-E5605A5EE9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2357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CCEE4E-B28D-FE9A-2F0C-AD413CE5EE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392B3-7B8C-CE4B-981A-32CE39740B89}" type="datetimeFigureOut">
              <a:rPr lang="en-US" smtClean="0"/>
              <a:t>9/21/26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7DF4B1-C14A-C25F-CA56-1C29847FF4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F1B08F-AB49-C32A-10DB-FEAFD0360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FEA2E-59FB-C74A-B1F1-E5605A5EE9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36924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422EB2-77EB-1DAC-95C9-94CD2B8EFC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F5A06F-EBAD-5B15-28D8-CD2436A63C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D00EBF-244D-7707-1370-CE0C2E9CC6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83EEA0-665E-F0C7-30F9-57C8D34BBD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392B3-7B8C-CE4B-981A-32CE39740B89}" type="datetimeFigureOut">
              <a:rPr lang="en-US" smtClean="0"/>
              <a:t>9/21/26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9B8468-B6A9-11F2-08EA-F52C316D98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5E9E4C-B9BB-2EFB-6FF1-54AD93D24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FEA2E-59FB-C74A-B1F1-E5605A5EE9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14845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837E1-8F73-C144-6032-2B075B739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5D88968-3011-4E78-AD90-752E33B3D5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1FD275-7FDF-FE08-A12A-EF8C6C1825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97E0A1-8DB4-0E93-38A6-FEDC304D3C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392B3-7B8C-CE4B-981A-32CE39740B89}" type="datetimeFigureOut">
              <a:rPr lang="en-US" smtClean="0"/>
              <a:t>9/21/26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AD3D29-2A0B-2EC6-2B19-84E8B6311C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172D9-C2EF-D811-1240-DF37C8BAF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FEA2E-59FB-C74A-B1F1-E5605A5EE9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96964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48B85-4F83-2249-FE6E-2308F0DB4D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6CD910-274F-9F2E-D5BE-AAE840A17A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D43415-EFA4-66BA-85FB-8086F24B0C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392B3-7B8C-CE4B-981A-32CE39740B89}" type="datetimeFigureOut">
              <a:rPr lang="en-US" smtClean="0"/>
              <a:t>9/21/26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60064B-74C1-1870-EFBC-B4017B127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52039B-23E2-9243-A572-635F65B7D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FEA2E-59FB-C74A-B1F1-E5605A5EE9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14990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98CC833-7C0B-B410-83C7-C44B538089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6B0527-AA5B-3A6B-B330-2F8DB0F29D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7250F6-E9D7-D597-9345-2DB2D2BF05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392B3-7B8C-CE4B-981A-32CE39740B89}" type="datetimeFigureOut">
              <a:rPr lang="en-US" smtClean="0"/>
              <a:t>9/21/26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6C7753-6C1D-8A23-D236-1B9DB3E155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6B4F12-5A60-129B-8FDA-30A4A9285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FEA2E-59FB-C74A-B1F1-E5605A5EE9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1674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2E39CDD-441E-C313-1213-F079135994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65D48D-1FA3-E6CC-9649-D5AB0F973C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CCEEE0-0B4A-7910-ED48-CD5ED23287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C392B3-7B8C-CE4B-981A-32CE39740B89}" type="datetimeFigureOut">
              <a:rPr lang="en-US" smtClean="0"/>
              <a:t>9/21/26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D95572-EE9A-A287-338A-5BA71C7E40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2624F7-28F9-9830-BE39-55AF9EE02E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7FEA2E-59FB-C74A-B1F1-E5605A5EE9E5}" type="slidenum">
              <a:rPr lang="en-US" smtClean="0"/>
              <a:t>‹#›</a:t>
            </a:fld>
            <a:endParaRPr lang="en-US"/>
          </a:p>
        </p:txBody>
      </p:sp>
      <p:sp>
        <p:nvSpPr>
          <p:cNvPr id="90" name="AccentBar"/>
          <p:cNvSpPr/>
          <p:nvPr/>
        </p:nvSpPr>
        <p:spPr>
          <a:xfrm>
            <a:off x="0" y="0"/>
            <a:ext cx="106680" cy="6858000"/>
          </a:xfrm>
          <a:prstGeom prst="rect">
            <a:avLst/>
          </a:prstGeom>
          <a:solidFill>
            <a:srgbClr val="0F6E6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" name="AccentDot"/>
          <p:cNvSpPr/>
          <p:nvPr/>
        </p:nvSpPr>
        <p:spPr>
          <a:xfrm>
            <a:off x="106680" y="6553200"/>
            <a:ext cx="1600200" cy="45720"/>
          </a:xfrm>
          <a:prstGeom prst="rect">
            <a:avLst/>
          </a:prstGeom>
          <a:solidFill>
            <a:srgbClr val="C97B2B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801544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14242C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243840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4051A9-28CF-C43B-F4FB-1096D97C142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b="1"/>
              <a:t>Bank Account Management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C6B921-69A9-0B0C-79C6-2E5D652DA9B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2000"/>
              <a:t>A Java application using OOP, Collections, File Handling and Swing
Mini Project 5</a:t>
            </a:r>
          </a:p>
        </p:txBody>
      </p:sp>
    </p:spTree>
    <p:extLst>
      <p:ext uri="{BB962C8B-B14F-4D97-AF65-F5344CB8AC3E}">
        <p14:creationId xmlns:p14="http://schemas.microsoft.com/office/powerpoint/2010/main" val="42732235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A094A-D163-BF8C-3C07-8EA71B3BD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F408F6-E1AE-F477-33E3-25A9057492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 marL="285750" indent="-285750">
              <a:spcAft>
                <a:spcPts val="1400"/>
              </a:spcAft>
              <a:buFont typeface="Arial"/>
              <a:buChar char="•"/>
            </a:pPr>
            <a:r>
              <a:rPr lang="en-US" sz="2000" dirty="0"/>
              <a:t>Build a desktop banking application that bank employees use to manage customer accounts.</a:t>
            </a:r>
          </a:p>
          <a:p>
            <a:pPr marL="285750" indent="-285750">
              <a:spcAft>
                <a:spcPts val="1400"/>
              </a:spcAft>
              <a:buFont typeface="Arial"/>
              <a:buChar char="•"/>
            </a:pPr>
            <a:r>
              <a:rPr lang="en-US" sz="2000" dirty="0"/>
              <a:t>Maintain customer details, account numbers, account types and balances.</a:t>
            </a:r>
          </a:p>
          <a:p>
            <a:pPr marL="285750" indent="-285750">
              <a:spcAft>
                <a:spcPts val="1400"/>
              </a:spcAft>
              <a:buFont typeface="Arial"/>
              <a:buChar char="•"/>
            </a:pPr>
            <a:r>
              <a:rPr lang="en-US" sz="2000" dirty="0"/>
              <a:t>Perform deposits and withdrawals with validation and balance checks.</a:t>
            </a:r>
          </a:p>
          <a:p>
            <a:pPr marL="285750" indent="-285750">
              <a:spcAft>
                <a:spcPts val="1400"/>
              </a:spcAft>
              <a:buFont typeface="Arial"/>
              <a:buChar char="•"/>
            </a:pPr>
            <a:r>
              <a:rPr lang="en-US" sz="2000" dirty="0"/>
              <a:t>Record every transaction and save it to a file for later reference.</a:t>
            </a:r>
          </a:p>
          <a:p>
            <a:pPr marL="285750" indent="-285750">
              <a:spcAft>
                <a:spcPts val="1400"/>
              </a:spcAft>
              <a:buFont typeface="Arial"/>
              <a:buChar char="•"/>
            </a:pPr>
            <a:r>
              <a:rPr lang="en-US" sz="2000" dirty="0"/>
              <a:t>Search, update and delete accounts quickly through a Swing interface.</a:t>
            </a:r>
          </a:p>
        </p:txBody>
      </p:sp>
    </p:spTree>
    <p:extLst>
      <p:ext uri="{BB962C8B-B14F-4D97-AF65-F5344CB8AC3E}">
        <p14:creationId xmlns:p14="http://schemas.microsoft.com/office/powerpoint/2010/main" val="13286417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0EDB2-8D74-3ECC-687C-4B5165CF97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07B6E2-46DB-37FE-D02F-A2DA0B3C43B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F6E62"/>
                </a:solidFill>
              </a:rPr>
              <a:t>Application goals</a:t>
            </a:r>
          </a:p>
          <a:p>
            <a:pPr marL="285750" indent="-285750">
              <a:spcAft>
                <a:spcPts val="1200"/>
              </a:spcAft>
              <a:buFont typeface="Arial"/>
              <a:buChar char="•"/>
            </a:pPr>
            <a:r>
              <a:rPr lang="en-US" sz="2000" dirty="0"/>
              <a:t>Maintain customer and account information</a:t>
            </a:r>
          </a:p>
          <a:p>
            <a:pPr marL="285750" indent="-285750">
              <a:spcAft>
                <a:spcPts val="1200"/>
              </a:spcAft>
              <a:buFont typeface="Arial"/>
              <a:buChar char="•"/>
            </a:pPr>
            <a:r>
              <a:rPr lang="en-US" sz="2000" dirty="0"/>
              <a:t>Perform deposit and withdrawal operations</a:t>
            </a:r>
          </a:p>
          <a:p>
            <a:pPr marL="285750" indent="-285750">
              <a:spcAft>
                <a:spcPts val="1200"/>
              </a:spcAft>
              <a:buFont typeface="Arial"/>
              <a:buChar char="•"/>
            </a:pPr>
            <a:r>
              <a:rPr lang="en-US" sz="2000" dirty="0"/>
              <a:t>Update and delete existing accounts</a:t>
            </a:r>
          </a:p>
          <a:p>
            <a:pPr marL="285750" indent="-285750">
              <a:spcAft>
                <a:spcPts val="1200"/>
              </a:spcAft>
              <a:buFont typeface="Arial"/>
              <a:buChar char="•"/>
            </a:pPr>
            <a:r>
              <a:rPr lang="en-US" sz="2000" dirty="0"/>
              <a:t>Provide a user-friendly Swing interface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11C345-72BC-10A5-3988-B7263B1080D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F6E62"/>
                </a:solidFill>
              </a:rPr>
              <a:t>Java concepts applied</a:t>
            </a:r>
          </a:p>
          <a:p>
            <a:pPr marL="285750" indent="-285750">
              <a:spcAft>
                <a:spcPts val="1200"/>
              </a:spcAft>
              <a:buFont typeface="Arial"/>
              <a:buChar char="•"/>
            </a:pPr>
            <a:r>
              <a:rPr lang="en-US" sz="2000" dirty="0"/>
              <a:t>Classes and objects for accounts and customers</a:t>
            </a:r>
          </a:p>
          <a:p>
            <a:pPr marL="285750" indent="-285750">
              <a:spcAft>
                <a:spcPts val="1200"/>
              </a:spcAft>
              <a:buFont typeface="Arial"/>
              <a:buChar char="•"/>
            </a:pPr>
            <a:r>
              <a:rPr lang="en-US" sz="2000" dirty="0"/>
              <a:t>Arrays for fixed account storage</a:t>
            </a:r>
          </a:p>
          <a:p>
            <a:pPr marL="285750" indent="-285750">
              <a:spcAft>
                <a:spcPts val="1200"/>
              </a:spcAft>
              <a:buFont typeface="Arial"/>
              <a:buChar char="•"/>
            </a:pPr>
            <a:r>
              <a:rPr lang="en-US" sz="2000" dirty="0"/>
              <a:t>LinkedList for transaction records</a:t>
            </a:r>
          </a:p>
          <a:p>
            <a:pPr marL="285750" indent="-285750">
              <a:spcAft>
                <a:spcPts val="1200"/>
              </a:spcAft>
              <a:buFont typeface="Arial"/>
              <a:buChar char="•"/>
            </a:pPr>
            <a:r>
              <a:rPr lang="en-US" sz="2000" dirty="0"/>
              <a:t>HashMap for account-number search</a:t>
            </a:r>
          </a:p>
          <a:p>
            <a:pPr marL="285750" indent="-285750">
              <a:spcAft>
                <a:spcPts val="1200"/>
              </a:spcAft>
              <a:buFont typeface="Arial"/>
              <a:buChar char="•"/>
            </a:pPr>
            <a:r>
              <a:rPr lang="en-US" sz="2000" dirty="0"/>
              <a:t>TreeMap for sorted account listing</a:t>
            </a:r>
          </a:p>
        </p:txBody>
      </p:sp>
    </p:spTree>
    <p:extLst>
      <p:ext uri="{BB962C8B-B14F-4D97-AF65-F5344CB8AC3E}">
        <p14:creationId xmlns:p14="http://schemas.microsoft.com/office/powerpoint/2010/main" val="6025191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E2261-7994-3D49-FE34-BB0961C429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/>
              <a:t>System Architecture</a:t>
            </a:r>
          </a:p>
        </p:txBody>
      </p:sp>
      <p:sp>
        <p:nvSpPr>
          <p:cNvPr id="50" name="S51"/>
          <p:cNvSpPr/>
          <p:nvPr/>
        </p:nvSpPr>
        <p:spPr>
          <a:xfrm>
            <a:off x="1397000" y="1905000"/>
            <a:ext cx="93980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1"/>
            </a:solidFill>
          </a:ln>
        </p:spPr>
        <p:txBody>
          <a:bodyPr wrap="square" lIns="91440" tIns="45720" rIns="91440" bIns="45720" anchor="ctr">
            <a:normAutofit/>
          </a:bodyPr>
          <a:lstStyle/>
          <a:p>
            <a:endParaRPr/>
          </a:p>
        </p:txBody>
      </p:sp>
      <p:sp>
        <p:nvSpPr>
          <p:cNvPr id="51" name="S52"/>
          <p:cNvSpPr/>
          <p:nvPr/>
        </p:nvSpPr>
        <p:spPr>
          <a:xfrm>
            <a:off x="1397000" y="1905000"/>
            <a:ext cx="2730500" cy="914400"/>
          </a:xfrm>
          <a:prstGeom prst="roundRect">
            <a:avLst/>
          </a:prstGeom>
          <a:solidFill>
            <a:srgbClr val="0F6E62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Presentation Layer</a:t>
            </a:r>
          </a:p>
        </p:txBody>
      </p:sp>
      <p:sp>
        <p:nvSpPr>
          <p:cNvPr id="52" name="S53"/>
          <p:cNvSpPr/>
          <p:nvPr/>
        </p:nvSpPr>
        <p:spPr>
          <a:xfrm>
            <a:off x="4318000" y="1905000"/>
            <a:ext cx="6350000" cy="914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l">
              <a:buNone/>
            </a:pPr>
            <a:r>
              <a:rPr lang="en-US" sz="1400" b="0" dirty="0">
                <a:solidFill>
                  <a:srgbClr val="243840"/>
                </a:solidFill>
              </a:rPr>
              <a:t>BankAccountManagementSystem (JFrame) — labels, text fields, combo box, buttons, ActionListener</a:t>
            </a:r>
          </a:p>
        </p:txBody>
      </p:sp>
      <p:sp>
        <p:nvSpPr>
          <p:cNvPr id="53" name="S54"/>
          <p:cNvSpPr/>
          <p:nvPr/>
        </p:nvSpPr>
        <p:spPr>
          <a:xfrm>
            <a:off x="5905500" y="2781300"/>
            <a:ext cx="381000" cy="254000"/>
          </a:xfrm>
          <a:prstGeom prst="downArrow">
            <a:avLst/>
          </a:prstGeom>
          <a:solidFill>
            <a:srgbClr val="6B7C82"/>
          </a:solidFill>
          <a:ln>
            <a:noFill/>
          </a:ln>
        </p:spPr>
        <p:txBody>
          <a:bodyPr wrap="square" lIns="91440" tIns="45720" rIns="91440" bIns="45720" anchor="ctr">
            <a:normAutofit fontScale="40000" lnSpcReduction="20000"/>
          </a:bodyPr>
          <a:lstStyle/>
          <a:p>
            <a:endParaRPr/>
          </a:p>
        </p:txBody>
      </p:sp>
      <p:sp>
        <p:nvSpPr>
          <p:cNvPr id="54" name="S55"/>
          <p:cNvSpPr/>
          <p:nvPr/>
        </p:nvSpPr>
        <p:spPr>
          <a:xfrm>
            <a:off x="1397000" y="3048000"/>
            <a:ext cx="93980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1"/>
            </a:solidFill>
          </a:ln>
        </p:spPr>
        <p:txBody>
          <a:bodyPr wrap="square" lIns="91440" tIns="45720" rIns="91440" bIns="45720" anchor="ctr">
            <a:normAutofit/>
          </a:bodyPr>
          <a:lstStyle/>
          <a:p>
            <a:endParaRPr/>
          </a:p>
        </p:txBody>
      </p:sp>
      <p:sp>
        <p:nvSpPr>
          <p:cNvPr id="55" name="S56"/>
          <p:cNvSpPr/>
          <p:nvPr/>
        </p:nvSpPr>
        <p:spPr>
          <a:xfrm>
            <a:off x="1397000" y="3048000"/>
            <a:ext cx="2730500" cy="914400"/>
          </a:xfrm>
          <a:prstGeom prst="roundRect">
            <a:avLst/>
          </a:prstGeom>
          <a:solidFill>
            <a:srgbClr val="3A6EA5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Service Layer</a:t>
            </a:r>
          </a:p>
        </p:txBody>
      </p:sp>
      <p:sp>
        <p:nvSpPr>
          <p:cNvPr id="56" name="S57"/>
          <p:cNvSpPr/>
          <p:nvPr/>
        </p:nvSpPr>
        <p:spPr>
          <a:xfrm>
            <a:off x="4318000" y="3048000"/>
            <a:ext cx="6350000" cy="914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l">
              <a:buNone/>
            </a:pPr>
            <a:r>
              <a:rPr lang="en-US" sz="1400" b="0" dirty="0">
                <a:solidFill>
                  <a:srgbClr val="243840"/>
                </a:solidFill>
              </a:rPr>
              <a:t>BankManager — add, search, update, delete   |   TransactionManager — record and persist transactions</a:t>
            </a:r>
          </a:p>
        </p:txBody>
      </p:sp>
      <p:sp>
        <p:nvSpPr>
          <p:cNvPr id="57" name="S58"/>
          <p:cNvSpPr/>
          <p:nvPr/>
        </p:nvSpPr>
        <p:spPr>
          <a:xfrm>
            <a:off x="5905500" y="3924300"/>
            <a:ext cx="381000" cy="254000"/>
          </a:xfrm>
          <a:prstGeom prst="downArrow">
            <a:avLst/>
          </a:prstGeom>
          <a:solidFill>
            <a:srgbClr val="6B7C82"/>
          </a:solidFill>
          <a:ln>
            <a:noFill/>
          </a:ln>
        </p:spPr>
        <p:txBody>
          <a:bodyPr wrap="square" lIns="91440" tIns="45720" rIns="91440" bIns="45720" anchor="ctr">
            <a:normAutofit fontScale="40000" lnSpcReduction="20000"/>
          </a:bodyPr>
          <a:lstStyle/>
          <a:p>
            <a:endParaRPr/>
          </a:p>
        </p:txBody>
      </p:sp>
      <p:sp>
        <p:nvSpPr>
          <p:cNvPr id="58" name="S59"/>
          <p:cNvSpPr/>
          <p:nvPr/>
        </p:nvSpPr>
        <p:spPr>
          <a:xfrm>
            <a:off x="1397000" y="4191000"/>
            <a:ext cx="93980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1"/>
            </a:solidFill>
          </a:ln>
        </p:spPr>
        <p:txBody>
          <a:bodyPr wrap="square" lIns="91440" tIns="45720" rIns="91440" bIns="45720" anchor="ctr">
            <a:normAutofit/>
          </a:bodyPr>
          <a:lstStyle/>
          <a:p>
            <a:endParaRPr/>
          </a:p>
        </p:txBody>
      </p:sp>
      <p:sp>
        <p:nvSpPr>
          <p:cNvPr id="59" name="S60"/>
          <p:cNvSpPr/>
          <p:nvPr/>
        </p:nvSpPr>
        <p:spPr>
          <a:xfrm>
            <a:off x="1397000" y="4191000"/>
            <a:ext cx="2730500" cy="914400"/>
          </a:xfrm>
          <a:prstGeom prst="roundRect">
            <a:avLst/>
          </a:prstGeom>
          <a:solidFill>
            <a:srgbClr val="A35C13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Domain Layer</a:t>
            </a:r>
          </a:p>
        </p:txBody>
      </p:sp>
      <p:sp>
        <p:nvSpPr>
          <p:cNvPr id="60" name="S61"/>
          <p:cNvSpPr/>
          <p:nvPr/>
        </p:nvSpPr>
        <p:spPr>
          <a:xfrm>
            <a:off x="4318000" y="4191000"/>
            <a:ext cx="6350000" cy="914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l">
              <a:buNone/>
            </a:pPr>
            <a:r>
              <a:rPr lang="en-US" sz="1400" b="0" dirty="0">
                <a:solidFill>
                  <a:srgbClr val="243840"/>
                </a:solidFill>
              </a:rPr>
              <a:t>Customer, Account, Transaction — encapsulated data with deposit() and withdraw() behaviour</a:t>
            </a:r>
          </a:p>
        </p:txBody>
      </p:sp>
      <p:sp>
        <p:nvSpPr>
          <p:cNvPr id="61" name="S62"/>
          <p:cNvSpPr/>
          <p:nvPr/>
        </p:nvSpPr>
        <p:spPr>
          <a:xfrm>
            <a:off x="5905500" y="5067300"/>
            <a:ext cx="381000" cy="254000"/>
          </a:xfrm>
          <a:prstGeom prst="downArrow">
            <a:avLst/>
          </a:prstGeom>
          <a:solidFill>
            <a:srgbClr val="6B7C82"/>
          </a:solidFill>
          <a:ln>
            <a:noFill/>
          </a:ln>
        </p:spPr>
        <p:txBody>
          <a:bodyPr wrap="square" lIns="91440" tIns="45720" rIns="91440" bIns="45720" anchor="ctr">
            <a:normAutofit fontScale="40000" lnSpcReduction="20000"/>
          </a:bodyPr>
          <a:lstStyle/>
          <a:p>
            <a:endParaRPr/>
          </a:p>
        </p:txBody>
      </p:sp>
      <p:sp>
        <p:nvSpPr>
          <p:cNvPr id="62" name="S63"/>
          <p:cNvSpPr/>
          <p:nvPr/>
        </p:nvSpPr>
        <p:spPr>
          <a:xfrm>
            <a:off x="1397000" y="5334000"/>
            <a:ext cx="93980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1"/>
            </a:solidFill>
          </a:ln>
        </p:spPr>
        <p:txBody>
          <a:bodyPr wrap="square" lIns="91440" tIns="45720" rIns="91440" bIns="45720" anchor="ctr">
            <a:normAutofit/>
          </a:bodyPr>
          <a:lstStyle/>
          <a:p>
            <a:endParaRPr/>
          </a:p>
        </p:txBody>
      </p:sp>
      <p:sp>
        <p:nvSpPr>
          <p:cNvPr id="63" name="S64"/>
          <p:cNvSpPr/>
          <p:nvPr/>
        </p:nvSpPr>
        <p:spPr>
          <a:xfrm>
            <a:off x="1397000" y="5334000"/>
            <a:ext cx="2730500" cy="914400"/>
          </a:xfrm>
          <a:prstGeom prst="roundRect">
            <a:avLst/>
          </a:prstGeom>
          <a:solidFill>
            <a:srgbClr val="3E6B3D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Storage Layer</a:t>
            </a:r>
          </a:p>
        </p:txBody>
      </p:sp>
      <p:sp>
        <p:nvSpPr>
          <p:cNvPr id="64" name="S65"/>
          <p:cNvSpPr/>
          <p:nvPr/>
        </p:nvSpPr>
        <p:spPr>
          <a:xfrm>
            <a:off x="4318000" y="5334000"/>
            <a:ext cx="6350000" cy="914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l">
              <a:buNone/>
            </a:pPr>
            <a:r>
              <a:rPr lang="en-US" sz="1400" b="0" dirty="0">
                <a:solidFill>
                  <a:srgbClr val="243840"/>
                </a:solidFill>
              </a:rPr>
              <a:t>Array, LinkedList, HashMap, HashSet, TreeMap in memory   +   transactions.txt on disk</a:t>
            </a:r>
          </a:p>
        </p:txBody>
      </p:sp>
    </p:spTree>
    <p:extLst>
      <p:ext uri="{BB962C8B-B14F-4D97-AF65-F5344CB8AC3E}">
        <p14:creationId xmlns:p14="http://schemas.microsoft.com/office/powerpoint/2010/main" val="29295056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76FA6D-15F8-88A1-A664-489214328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/>
              <a:t>Data and Function Flow</a:t>
            </a:r>
          </a:p>
        </p:txBody>
      </p:sp>
      <p:sp>
        <p:nvSpPr>
          <p:cNvPr id="100" name="F101"/>
          <p:cNvSpPr/>
          <p:nvPr/>
        </p:nvSpPr>
        <p:spPr>
          <a:xfrm>
            <a:off x="838200" y="2006600"/>
            <a:ext cx="2235200" cy="990600"/>
          </a:xfrm>
          <a:prstGeom prst="chevron">
            <a:avLst/>
          </a:prstGeom>
          <a:solidFill>
            <a:srgbClr val="0F6E62"/>
          </a:solidFill>
          <a:ln>
            <a:noFill/>
          </a:ln>
        </p:spPr>
        <p:txBody>
          <a:bodyPr wrap="square" lIns="45720" tIns="27432" rIns="45720" bIns="27432" anchor="ctr">
            <a:normAutofit/>
          </a:bodyPr>
          <a:lstStyle/>
          <a:p>
            <a:pPr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Input</a:t>
            </a:r>
          </a:p>
        </p:txBody>
      </p:sp>
      <p:sp>
        <p:nvSpPr>
          <p:cNvPr id="101" name="F102"/>
          <p:cNvSpPr/>
          <p:nvPr/>
        </p:nvSpPr>
        <p:spPr>
          <a:xfrm>
            <a:off x="838200" y="3048000"/>
            <a:ext cx="2235200" cy="3048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rmAutofit/>
          </a:bodyPr>
          <a:lstStyle/>
          <a:p>
            <a:pPr algn="ctr">
              <a:buNone/>
            </a:pPr>
            <a:r>
              <a:rPr lang="en-US" sz="1400" b="0" dirty="0">
                <a:solidFill>
                  <a:srgbClr val="2B4A55"/>
                </a:solidFill>
              </a:rPr>
              <a:t>Form fields</a:t>
            </a:r>
          </a:p>
        </p:txBody>
      </p:sp>
      <p:sp>
        <p:nvSpPr>
          <p:cNvPr id="102" name="F103"/>
          <p:cNvSpPr/>
          <p:nvPr/>
        </p:nvSpPr>
        <p:spPr>
          <a:xfrm>
            <a:off x="3022600" y="2006600"/>
            <a:ext cx="2235200" cy="990600"/>
          </a:xfrm>
          <a:prstGeom prst="chevron">
            <a:avLst/>
          </a:prstGeom>
          <a:solidFill>
            <a:srgbClr val="0F6E62"/>
          </a:solidFill>
          <a:ln>
            <a:noFill/>
          </a:ln>
        </p:spPr>
        <p:txBody>
          <a:bodyPr wrap="square" lIns="45720" tIns="27432" rIns="45720" bIns="27432" anchor="ctr">
            <a:normAutofit/>
          </a:bodyPr>
          <a:lstStyle/>
          <a:p>
            <a:pPr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Click</a:t>
            </a:r>
          </a:p>
        </p:txBody>
      </p:sp>
      <p:sp>
        <p:nvSpPr>
          <p:cNvPr id="103" name="F104"/>
          <p:cNvSpPr/>
          <p:nvPr/>
        </p:nvSpPr>
        <p:spPr>
          <a:xfrm>
            <a:off x="3022600" y="3048000"/>
            <a:ext cx="2235200" cy="3048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rmAutofit/>
          </a:bodyPr>
          <a:lstStyle/>
          <a:p>
            <a:pPr algn="ctr">
              <a:buNone/>
            </a:pPr>
            <a:r>
              <a:rPr lang="en-US" sz="1400" b="0" dirty="0">
                <a:solidFill>
                  <a:srgbClr val="2B4A55"/>
                </a:solidFill>
              </a:rPr>
              <a:t>actionPerformed()</a:t>
            </a:r>
          </a:p>
        </p:txBody>
      </p:sp>
      <p:sp>
        <p:nvSpPr>
          <p:cNvPr id="104" name="F105"/>
          <p:cNvSpPr/>
          <p:nvPr/>
        </p:nvSpPr>
        <p:spPr>
          <a:xfrm>
            <a:off x="5207000" y="2006600"/>
            <a:ext cx="2235200" cy="990600"/>
          </a:xfrm>
          <a:prstGeom prst="chevron">
            <a:avLst/>
          </a:prstGeom>
          <a:solidFill>
            <a:srgbClr val="0F6E62"/>
          </a:solidFill>
          <a:ln>
            <a:noFill/>
          </a:ln>
        </p:spPr>
        <p:txBody>
          <a:bodyPr wrap="square" lIns="45720" tIns="27432" rIns="45720" bIns="27432" anchor="ctr">
            <a:normAutofit/>
          </a:bodyPr>
          <a:lstStyle/>
          <a:p>
            <a:pPr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Validate</a:t>
            </a:r>
          </a:p>
        </p:txBody>
      </p:sp>
      <p:sp>
        <p:nvSpPr>
          <p:cNvPr id="105" name="F106"/>
          <p:cNvSpPr/>
          <p:nvPr/>
        </p:nvSpPr>
        <p:spPr>
          <a:xfrm>
            <a:off x="5207000" y="3048000"/>
            <a:ext cx="2235200" cy="3048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rmAutofit/>
          </a:bodyPr>
          <a:lstStyle/>
          <a:p>
            <a:pPr algn="ctr">
              <a:buNone/>
            </a:pPr>
            <a:r>
              <a:rPr lang="en-US" sz="1400" b="0" dirty="0">
                <a:solidFill>
                  <a:srgbClr val="2B4A55"/>
                </a:solidFill>
              </a:rPr>
              <a:t>try / catch</a:t>
            </a:r>
          </a:p>
        </p:txBody>
      </p:sp>
      <p:sp>
        <p:nvSpPr>
          <p:cNvPr id="106" name="F107"/>
          <p:cNvSpPr/>
          <p:nvPr/>
        </p:nvSpPr>
        <p:spPr>
          <a:xfrm>
            <a:off x="7391400" y="2006600"/>
            <a:ext cx="2235200" cy="990600"/>
          </a:xfrm>
          <a:prstGeom prst="chevron">
            <a:avLst/>
          </a:prstGeom>
          <a:solidFill>
            <a:srgbClr val="0F6E62"/>
          </a:solidFill>
          <a:ln>
            <a:noFill/>
          </a:ln>
        </p:spPr>
        <p:txBody>
          <a:bodyPr wrap="square" lIns="45720" tIns="27432" rIns="45720" bIns="27432" anchor="ctr">
            <a:normAutofit/>
          </a:bodyPr>
          <a:lstStyle/>
          <a:p>
            <a:pPr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Process</a:t>
            </a:r>
          </a:p>
        </p:txBody>
      </p:sp>
      <p:sp>
        <p:nvSpPr>
          <p:cNvPr id="107" name="F108"/>
          <p:cNvSpPr/>
          <p:nvPr/>
        </p:nvSpPr>
        <p:spPr>
          <a:xfrm>
            <a:off x="7391400" y="3048000"/>
            <a:ext cx="2235200" cy="3048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rmAutofit/>
          </a:bodyPr>
          <a:lstStyle/>
          <a:p>
            <a:pPr algn="ctr">
              <a:buNone/>
            </a:pPr>
            <a:r>
              <a:rPr lang="en-US" sz="1400" b="0" dirty="0">
                <a:solidFill>
                  <a:srgbClr val="2B4A55"/>
                </a:solidFill>
              </a:rPr>
              <a:t>BankManager</a:t>
            </a:r>
          </a:p>
        </p:txBody>
      </p:sp>
      <p:sp>
        <p:nvSpPr>
          <p:cNvPr id="108" name="F109"/>
          <p:cNvSpPr/>
          <p:nvPr/>
        </p:nvSpPr>
        <p:spPr>
          <a:xfrm>
            <a:off x="9575800" y="2006600"/>
            <a:ext cx="2235200" cy="990600"/>
          </a:xfrm>
          <a:prstGeom prst="chevron">
            <a:avLst/>
          </a:prstGeom>
          <a:solidFill>
            <a:srgbClr val="A35C13"/>
          </a:solidFill>
          <a:ln>
            <a:noFill/>
          </a:ln>
        </p:spPr>
        <p:txBody>
          <a:bodyPr wrap="square" lIns="45720" tIns="27432" rIns="45720" bIns="27432" anchor="ctr">
            <a:normAutofit/>
          </a:bodyPr>
          <a:lstStyle/>
          <a:p>
            <a:pPr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Result</a:t>
            </a:r>
          </a:p>
        </p:txBody>
      </p:sp>
      <p:sp>
        <p:nvSpPr>
          <p:cNvPr id="109" name="F110"/>
          <p:cNvSpPr/>
          <p:nvPr/>
        </p:nvSpPr>
        <p:spPr>
          <a:xfrm>
            <a:off x="9575800" y="3048000"/>
            <a:ext cx="2235200" cy="3048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rmAutofit/>
          </a:bodyPr>
          <a:lstStyle/>
          <a:p>
            <a:pPr algn="ctr">
              <a:buNone/>
            </a:pPr>
            <a:r>
              <a:rPr lang="en-US" sz="1400" b="0" dirty="0">
                <a:solidFill>
                  <a:srgbClr val="2B4A55"/>
                </a:solidFill>
              </a:rPr>
              <a:t>JOptionPane</a:t>
            </a:r>
          </a:p>
        </p:txBody>
      </p:sp>
      <p:sp>
        <p:nvSpPr>
          <p:cNvPr id="110" name="F111"/>
          <p:cNvSpPr/>
          <p:nvPr/>
        </p:nvSpPr>
        <p:spPr>
          <a:xfrm>
            <a:off x="8445500" y="3429000"/>
            <a:ext cx="101600" cy="482600"/>
          </a:xfrm>
          <a:prstGeom prst="rect">
            <a:avLst/>
          </a:prstGeom>
          <a:solidFill>
            <a:srgbClr val="AFBDC2"/>
          </a:solidFill>
          <a:ln>
            <a:noFill/>
          </a:ln>
        </p:spPr>
        <p:txBody>
          <a:bodyPr wrap="square" lIns="45720" tIns="27432" rIns="45720" bIns="27432" anchor="ctr">
            <a:normAutofit/>
          </a:bodyPr>
          <a:lstStyle/>
          <a:p>
            <a:endParaRPr/>
          </a:p>
        </p:txBody>
      </p:sp>
      <p:sp>
        <p:nvSpPr>
          <p:cNvPr id="111" name="F112"/>
          <p:cNvSpPr/>
          <p:nvPr/>
        </p:nvSpPr>
        <p:spPr>
          <a:xfrm>
            <a:off x="2527300" y="3860800"/>
            <a:ext cx="7213600" cy="101600"/>
          </a:xfrm>
          <a:prstGeom prst="rect">
            <a:avLst/>
          </a:prstGeom>
          <a:solidFill>
            <a:srgbClr val="AFBDC2"/>
          </a:solidFill>
          <a:ln>
            <a:noFill/>
          </a:ln>
        </p:spPr>
        <p:txBody>
          <a:bodyPr wrap="square" lIns="45720" tIns="27432" rIns="45720" bIns="27432" anchor="ctr">
            <a:normAutofit fontScale="25000" lnSpcReduction="20000"/>
          </a:bodyPr>
          <a:lstStyle/>
          <a:p>
            <a:endParaRPr/>
          </a:p>
        </p:txBody>
      </p:sp>
      <p:sp>
        <p:nvSpPr>
          <p:cNvPr id="112" name="F113"/>
          <p:cNvSpPr/>
          <p:nvPr/>
        </p:nvSpPr>
        <p:spPr>
          <a:xfrm>
            <a:off x="2425700" y="3962400"/>
            <a:ext cx="203200" cy="254000"/>
          </a:xfrm>
          <a:prstGeom prst="downArrow">
            <a:avLst/>
          </a:prstGeom>
          <a:solidFill>
            <a:srgbClr val="AFBDC2"/>
          </a:solidFill>
          <a:ln>
            <a:noFill/>
          </a:ln>
        </p:spPr>
        <p:txBody>
          <a:bodyPr wrap="square" lIns="45720" tIns="27432" rIns="45720" bIns="27432" anchor="ctr">
            <a:normAutofit fontScale="62500" lnSpcReduction="20000"/>
          </a:bodyPr>
          <a:lstStyle/>
          <a:p>
            <a:endParaRPr/>
          </a:p>
        </p:txBody>
      </p:sp>
      <p:sp>
        <p:nvSpPr>
          <p:cNvPr id="113" name="F114"/>
          <p:cNvSpPr/>
          <p:nvPr/>
        </p:nvSpPr>
        <p:spPr>
          <a:xfrm>
            <a:off x="6032500" y="3962400"/>
            <a:ext cx="203200" cy="254000"/>
          </a:xfrm>
          <a:prstGeom prst="downArrow">
            <a:avLst/>
          </a:prstGeom>
          <a:solidFill>
            <a:srgbClr val="AFBDC2"/>
          </a:solidFill>
          <a:ln>
            <a:noFill/>
          </a:ln>
        </p:spPr>
        <p:txBody>
          <a:bodyPr wrap="square" lIns="45720" tIns="27432" rIns="45720" bIns="27432" anchor="ctr">
            <a:normAutofit fontScale="62500" lnSpcReduction="20000"/>
          </a:bodyPr>
          <a:lstStyle/>
          <a:p>
            <a:endParaRPr/>
          </a:p>
        </p:txBody>
      </p:sp>
      <p:sp>
        <p:nvSpPr>
          <p:cNvPr id="114" name="F115"/>
          <p:cNvSpPr/>
          <p:nvPr/>
        </p:nvSpPr>
        <p:spPr>
          <a:xfrm>
            <a:off x="9639300" y="3962400"/>
            <a:ext cx="203200" cy="254000"/>
          </a:xfrm>
          <a:prstGeom prst="downArrow">
            <a:avLst/>
          </a:prstGeom>
          <a:solidFill>
            <a:srgbClr val="AFBDC2"/>
          </a:solidFill>
          <a:ln>
            <a:noFill/>
          </a:ln>
        </p:spPr>
        <p:txBody>
          <a:bodyPr wrap="square" lIns="45720" tIns="27432" rIns="45720" bIns="27432" anchor="ctr">
            <a:normAutofit fontScale="62500" lnSpcReduction="20000"/>
          </a:bodyPr>
          <a:lstStyle/>
          <a:p>
            <a:endParaRPr/>
          </a:p>
        </p:txBody>
      </p:sp>
      <p:sp>
        <p:nvSpPr>
          <p:cNvPr id="115" name="F116"/>
          <p:cNvSpPr/>
          <p:nvPr/>
        </p:nvSpPr>
        <p:spPr>
          <a:xfrm>
            <a:off x="838200" y="4318000"/>
            <a:ext cx="3378200" cy="1397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6E62"/>
            </a:solidFill>
          </a:ln>
        </p:spPr>
        <p:txBody>
          <a:bodyPr wrap="square" lIns="45720" tIns="27432" rIns="45720" bIns="27432" anchor="ctr">
            <a:normAutofit/>
          </a:bodyPr>
          <a:lstStyle/>
          <a:p>
            <a:pPr algn="ctr">
              <a:buNone/>
            </a:pPr>
            <a:r>
              <a:rPr lang="en-US" sz="1700" b="1" dirty="0">
                <a:solidFill>
                  <a:srgbClr val="0F6E62"/>
                </a:solidFill>
              </a:rPr>
              <a:t>Accounts</a:t>
            </a:r>
          </a:p>
          <a:p>
            <a:pPr algn="ctr">
              <a:buNone/>
            </a:pPr>
            <a:r>
              <a:rPr lang="en-US" sz="1400" b="0" dirty="0">
                <a:solidFill>
                  <a:srgbClr val="243840"/>
                </a:solidFill>
              </a:rPr>
              <a:t>HashMap · HashSet · TreeMap</a:t>
            </a:r>
          </a:p>
        </p:txBody>
      </p:sp>
      <p:sp>
        <p:nvSpPr>
          <p:cNvPr id="116" name="F117"/>
          <p:cNvSpPr/>
          <p:nvPr/>
        </p:nvSpPr>
        <p:spPr>
          <a:xfrm>
            <a:off x="4445000" y="4318000"/>
            <a:ext cx="3378200" cy="1397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6E62"/>
            </a:solidFill>
          </a:ln>
        </p:spPr>
        <p:txBody>
          <a:bodyPr wrap="square" lIns="45720" tIns="27432" rIns="45720" bIns="27432" anchor="ctr">
            <a:normAutofit/>
          </a:bodyPr>
          <a:lstStyle/>
          <a:p>
            <a:pPr algn="ctr">
              <a:buNone/>
            </a:pPr>
            <a:r>
              <a:rPr lang="en-US" sz="1700" b="1" dirty="0">
                <a:solidFill>
                  <a:srgbClr val="0F6E62"/>
                </a:solidFill>
              </a:rPr>
              <a:t>Transactions</a:t>
            </a:r>
          </a:p>
          <a:p>
            <a:pPr algn="ctr">
              <a:buNone/>
            </a:pPr>
            <a:r>
              <a:rPr lang="en-US" sz="1400" b="0" dirty="0">
                <a:solidFill>
                  <a:srgbClr val="243840"/>
                </a:solidFill>
              </a:rPr>
              <a:t>LinkedList</a:t>
            </a:r>
          </a:p>
        </p:txBody>
      </p:sp>
      <p:sp>
        <p:nvSpPr>
          <p:cNvPr id="117" name="F118"/>
          <p:cNvSpPr/>
          <p:nvPr/>
        </p:nvSpPr>
        <p:spPr>
          <a:xfrm>
            <a:off x="8051800" y="4318000"/>
            <a:ext cx="3378200" cy="1397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6E62"/>
            </a:solidFill>
          </a:ln>
        </p:spPr>
        <p:txBody>
          <a:bodyPr wrap="square" lIns="45720" tIns="27432" rIns="45720" bIns="27432" anchor="ctr">
            <a:normAutofit/>
          </a:bodyPr>
          <a:lstStyle/>
          <a:p>
            <a:pPr algn="ctr">
              <a:buNone/>
            </a:pPr>
            <a:r>
              <a:rPr lang="en-US" sz="1700" b="1" dirty="0">
                <a:solidFill>
                  <a:srgbClr val="0F6E62"/>
                </a:solidFill>
              </a:rPr>
              <a:t>Persistence</a:t>
            </a:r>
          </a:p>
          <a:p>
            <a:pPr algn="ctr">
              <a:buNone/>
            </a:pPr>
            <a:r>
              <a:rPr lang="en-US" sz="1400" b="0" dirty="0">
                <a:solidFill>
                  <a:srgbClr val="243840"/>
                </a:solidFill>
              </a:rPr>
              <a:t>transactions.txt</a:t>
            </a:r>
          </a:p>
        </p:txBody>
      </p:sp>
      <p:sp>
        <p:nvSpPr>
          <p:cNvPr id="118" name="F119"/>
          <p:cNvSpPr/>
          <p:nvPr/>
        </p:nvSpPr>
        <p:spPr>
          <a:xfrm>
            <a:off x="838200" y="5918200"/>
            <a:ext cx="10515600" cy="381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rmAutofit/>
          </a:bodyPr>
          <a:lstStyle/>
          <a:p>
            <a:pPr algn="ctr">
              <a:buNone/>
            </a:pPr>
            <a:r>
              <a:rPr lang="en-US" sz="1400" b="0" dirty="0">
                <a:solidFill>
                  <a:srgbClr val="2B4A55"/>
                </a:solidFill>
              </a:rPr>
              <a:t>Every deposit or withdrawal updates the Account object, appends a Transaction to the LinkedList and can be written to file.</a:t>
            </a:r>
          </a:p>
        </p:txBody>
      </p:sp>
    </p:spTree>
    <p:extLst>
      <p:ext uri="{BB962C8B-B14F-4D97-AF65-F5344CB8AC3E}">
        <p14:creationId xmlns:p14="http://schemas.microsoft.com/office/powerpoint/2010/main" val="37864259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50164-7B89-C981-81FD-7189985DE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/>
              <a:t>OOP Design: Classes and Objects</a:t>
            </a:r>
          </a:p>
        </p:txBody>
      </p:sp>
      <p:sp>
        <p:nvSpPr>
          <p:cNvPr id="60" name="C61"/>
          <p:cNvSpPr/>
          <p:nvPr/>
        </p:nvSpPr>
        <p:spPr>
          <a:xfrm>
            <a:off x="990600" y="1968500"/>
            <a:ext cx="3403600" cy="2730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1"/>
            </a:solidFill>
          </a:ln>
        </p:spPr>
        <p:txBody>
          <a:bodyPr wrap="square" lIns="114300" tIns="91440" rIns="114300" bIns="91440" anchor="t">
            <a:normAutofit/>
          </a:bodyPr>
          <a:lstStyle/>
          <a:p>
            <a:endParaRPr/>
          </a:p>
        </p:txBody>
      </p:sp>
      <p:sp>
        <p:nvSpPr>
          <p:cNvPr id="61" name="C62"/>
          <p:cNvSpPr/>
          <p:nvPr/>
        </p:nvSpPr>
        <p:spPr>
          <a:xfrm>
            <a:off x="990600" y="1968500"/>
            <a:ext cx="3403600" cy="558800"/>
          </a:xfrm>
          <a:prstGeom prst="rect">
            <a:avLst/>
          </a:prstGeom>
          <a:solidFill>
            <a:srgbClr val="0F6E62"/>
          </a:solidFill>
          <a:ln>
            <a:noFill/>
          </a:ln>
        </p:spPr>
        <p:txBody>
          <a:bodyPr wrap="square" lIns="114300" tIns="91440" rIns="114300" bIns="91440" anchor="ctr">
            <a:norm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FFFFFF"/>
                </a:solidFill>
              </a:rPr>
              <a:t>Customer</a:t>
            </a:r>
          </a:p>
        </p:txBody>
      </p:sp>
      <p:sp>
        <p:nvSpPr>
          <p:cNvPr id="62" name="C63"/>
          <p:cNvSpPr/>
          <p:nvPr/>
        </p:nvSpPr>
        <p:spPr>
          <a:xfrm>
            <a:off x="990600" y="2578100"/>
            <a:ext cx="3403600" cy="20574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91440" rIns="114300" bIns="91440" anchor="t">
            <a:normAutofit/>
          </a:bodyPr>
          <a:lstStyle/>
          <a:p>
            <a:pPr marL="200025" indent="-200025">
              <a:spcAft>
                <a:spcPts val="500"/>
              </a:spcAft>
              <a:buFont typeface="Arial"/>
              <a:buChar char="•"/>
            </a:pPr>
            <a:r>
              <a:rPr lang="en-US" sz="1400" dirty="0">
                <a:solidFill>
                  <a:srgbClr val="243840"/>
                </a:solidFill>
              </a:rPr>
              <a:t>Fields: name, phone</a:t>
            </a:r>
          </a:p>
          <a:p>
            <a:pPr marL="200025" indent="-200025">
              <a:spcAft>
                <a:spcPts val="500"/>
              </a:spcAft>
              <a:buFont typeface="Arial"/>
              <a:buChar char="•"/>
            </a:pPr>
            <a:r>
              <a:rPr lang="en-US" sz="1400" dirty="0">
                <a:solidFill>
                  <a:srgbClr val="243840"/>
                </a:solidFill>
              </a:rPr>
              <a:t>Private data with getters and setters</a:t>
            </a:r>
          </a:p>
          <a:p>
            <a:pPr marL="200025" indent="-200025">
              <a:spcAft>
                <a:spcPts val="500"/>
              </a:spcAft>
              <a:buFont typeface="Arial"/>
              <a:buChar char="•"/>
            </a:pPr>
            <a:r>
              <a:rPr lang="en-US" sz="1400" dirty="0">
                <a:solidFill>
                  <a:srgbClr val="243840"/>
                </a:solidFill>
              </a:rPr>
              <a:t>Represents the account holder</a:t>
            </a:r>
          </a:p>
        </p:txBody>
      </p:sp>
      <p:sp>
        <p:nvSpPr>
          <p:cNvPr id="63" name="C64"/>
          <p:cNvSpPr/>
          <p:nvPr/>
        </p:nvSpPr>
        <p:spPr>
          <a:xfrm>
            <a:off x="4572000" y="1968500"/>
            <a:ext cx="3403600" cy="2730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1"/>
            </a:solidFill>
          </a:ln>
        </p:spPr>
        <p:txBody>
          <a:bodyPr wrap="square" lIns="114300" tIns="91440" rIns="114300" bIns="91440" anchor="t">
            <a:normAutofit/>
          </a:bodyPr>
          <a:lstStyle/>
          <a:p>
            <a:endParaRPr/>
          </a:p>
        </p:txBody>
      </p:sp>
      <p:sp>
        <p:nvSpPr>
          <p:cNvPr id="64" name="C65"/>
          <p:cNvSpPr/>
          <p:nvPr/>
        </p:nvSpPr>
        <p:spPr>
          <a:xfrm>
            <a:off x="4572000" y="1968500"/>
            <a:ext cx="3403600" cy="558800"/>
          </a:xfrm>
          <a:prstGeom prst="rect">
            <a:avLst/>
          </a:prstGeom>
          <a:solidFill>
            <a:srgbClr val="3A6EA5"/>
          </a:solidFill>
          <a:ln>
            <a:noFill/>
          </a:ln>
        </p:spPr>
        <p:txBody>
          <a:bodyPr wrap="square" lIns="114300" tIns="91440" rIns="114300" bIns="91440" anchor="ctr">
            <a:norm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FFFFFF"/>
                </a:solidFill>
              </a:rPr>
              <a:t>Account</a:t>
            </a:r>
          </a:p>
        </p:txBody>
      </p:sp>
      <p:sp>
        <p:nvSpPr>
          <p:cNvPr id="65" name="C66"/>
          <p:cNvSpPr/>
          <p:nvPr/>
        </p:nvSpPr>
        <p:spPr>
          <a:xfrm>
            <a:off x="4572000" y="2578100"/>
            <a:ext cx="3403600" cy="20574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91440" rIns="114300" bIns="91440" anchor="t">
            <a:normAutofit/>
          </a:bodyPr>
          <a:lstStyle/>
          <a:p>
            <a:pPr marL="200025" indent="-200025">
              <a:spcAft>
                <a:spcPts val="500"/>
              </a:spcAft>
              <a:buFont typeface="Arial"/>
              <a:buChar char="•"/>
            </a:pPr>
            <a:r>
              <a:rPr lang="en-US" sz="1400" dirty="0">
                <a:solidFill>
                  <a:srgbClr val="243840"/>
                </a:solidFill>
              </a:rPr>
              <a:t>Fields: accountNumber, type, balance</a:t>
            </a:r>
          </a:p>
          <a:p>
            <a:pPr marL="200025" indent="-200025">
              <a:spcAft>
                <a:spcPts val="500"/>
              </a:spcAft>
              <a:buFont typeface="Arial"/>
              <a:buChar char="•"/>
            </a:pPr>
            <a:r>
              <a:rPr lang="en-US" sz="1400" dirty="0">
                <a:solidFill>
                  <a:srgbClr val="243840"/>
                </a:solidFill>
              </a:rPr>
              <a:t>Has-a Customer object (composition)</a:t>
            </a:r>
          </a:p>
          <a:p>
            <a:pPr marL="200025" indent="-200025">
              <a:spcAft>
                <a:spcPts val="500"/>
              </a:spcAft>
              <a:buFont typeface="Arial"/>
              <a:buChar char="•"/>
            </a:pPr>
            <a:r>
              <a:rPr lang="en-US" sz="1400" dirty="0">
                <a:solidFill>
                  <a:srgbClr val="243840"/>
                </a:solidFill>
              </a:rPr>
              <a:t>deposit() and withdraw() with balance check</a:t>
            </a:r>
          </a:p>
        </p:txBody>
      </p:sp>
      <p:sp>
        <p:nvSpPr>
          <p:cNvPr id="66" name="C67"/>
          <p:cNvSpPr/>
          <p:nvPr/>
        </p:nvSpPr>
        <p:spPr>
          <a:xfrm>
            <a:off x="8153400" y="1968500"/>
            <a:ext cx="3403600" cy="2730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1"/>
            </a:solidFill>
          </a:ln>
        </p:spPr>
        <p:txBody>
          <a:bodyPr wrap="square" lIns="114300" tIns="91440" rIns="114300" bIns="91440" anchor="t">
            <a:normAutofit/>
          </a:bodyPr>
          <a:lstStyle/>
          <a:p>
            <a:endParaRPr/>
          </a:p>
        </p:txBody>
      </p:sp>
      <p:sp>
        <p:nvSpPr>
          <p:cNvPr id="67" name="C68"/>
          <p:cNvSpPr/>
          <p:nvPr/>
        </p:nvSpPr>
        <p:spPr>
          <a:xfrm>
            <a:off x="8153400" y="1968500"/>
            <a:ext cx="3403600" cy="558800"/>
          </a:xfrm>
          <a:prstGeom prst="rect">
            <a:avLst/>
          </a:prstGeom>
          <a:solidFill>
            <a:srgbClr val="A35C13"/>
          </a:solidFill>
          <a:ln>
            <a:noFill/>
          </a:ln>
        </p:spPr>
        <p:txBody>
          <a:bodyPr wrap="square" lIns="114300" tIns="91440" rIns="114300" bIns="91440" anchor="ctr">
            <a:norm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FFFFFF"/>
                </a:solidFill>
              </a:rPr>
              <a:t>Transaction</a:t>
            </a:r>
          </a:p>
        </p:txBody>
      </p:sp>
      <p:sp>
        <p:nvSpPr>
          <p:cNvPr id="68" name="C69"/>
          <p:cNvSpPr/>
          <p:nvPr/>
        </p:nvSpPr>
        <p:spPr>
          <a:xfrm>
            <a:off x="8153400" y="2578100"/>
            <a:ext cx="3403600" cy="20574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91440" rIns="114300" bIns="91440" anchor="t">
            <a:normAutofit/>
          </a:bodyPr>
          <a:lstStyle/>
          <a:p>
            <a:pPr marL="200025" indent="-200025">
              <a:spcAft>
                <a:spcPts val="500"/>
              </a:spcAft>
              <a:buFont typeface="Arial"/>
              <a:buChar char="•"/>
            </a:pPr>
            <a:r>
              <a:rPr lang="en-US" sz="1400" dirty="0">
                <a:solidFill>
                  <a:srgbClr val="243840"/>
                </a:solidFill>
              </a:rPr>
              <a:t>Fields: type, amount</a:t>
            </a:r>
          </a:p>
          <a:p>
            <a:pPr marL="200025" indent="-200025">
              <a:spcAft>
                <a:spcPts val="500"/>
              </a:spcAft>
              <a:buFont typeface="Arial"/>
              <a:buChar char="•"/>
            </a:pPr>
            <a:r>
              <a:rPr lang="en-US" sz="1400" dirty="0">
                <a:solidFill>
                  <a:srgbClr val="243840"/>
                </a:solidFill>
              </a:rPr>
              <a:t>toString() overridden for display</a:t>
            </a:r>
          </a:p>
          <a:p>
            <a:pPr marL="200025" indent="-200025">
              <a:spcAft>
                <a:spcPts val="500"/>
              </a:spcAft>
              <a:buFont typeface="Arial"/>
              <a:buChar char="•"/>
            </a:pPr>
            <a:r>
              <a:rPr lang="en-US" sz="1400" dirty="0">
                <a:solidFill>
                  <a:srgbClr val="243840"/>
                </a:solidFill>
              </a:rPr>
              <a:t>Created on every deposit or withdrawal</a:t>
            </a:r>
          </a:p>
        </p:txBody>
      </p:sp>
      <p:sp>
        <p:nvSpPr>
          <p:cNvPr id="69" name="C70"/>
          <p:cNvSpPr/>
          <p:nvPr/>
        </p:nvSpPr>
        <p:spPr>
          <a:xfrm>
            <a:off x="990600" y="5016500"/>
            <a:ext cx="10566400" cy="939800"/>
          </a:xfrm>
          <a:prstGeom prst="roundRect">
            <a:avLst/>
          </a:prstGeom>
          <a:solidFill>
            <a:srgbClr val="EDF3F2"/>
          </a:solidFill>
          <a:ln w="12700">
            <a:solidFill>
              <a:srgbClr val="0F6E62"/>
            </a:solidFill>
          </a:ln>
        </p:spPr>
        <p:txBody>
          <a:bodyPr wrap="square" lIns="114300" tIns="91440" rIns="114300" bIns="91440" anchor="ctr">
            <a:normAutofit lnSpcReduction="10000"/>
          </a:bodyPr>
          <a:lstStyle/>
          <a:p>
            <a:pPr algn="l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F6E62"/>
                </a:solidFill>
              </a:rPr>
              <a:t>Encapsulation in practice</a:t>
            </a:r>
          </a:p>
          <a:p>
            <a:pPr algn="l">
              <a:spcAft>
                <a:spcPts val="300"/>
              </a:spcAft>
              <a:buNone/>
            </a:pPr>
            <a:r>
              <a:rPr lang="en-US" sz="1400" b="0" dirty="0">
                <a:solidFill>
                  <a:srgbClr val="243840"/>
                </a:solidFill>
              </a:rPr>
              <a:t>All fields are private; balance changes only through deposit() and withdraw(), so an invalid or negative balance can never be written directly from the GUI.</a:t>
            </a:r>
          </a:p>
        </p:txBody>
      </p:sp>
    </p:spTree>
    <p:extLst>
      <p:ext uri="{BB962C8B-B14F-4D97-AF65-F5344CB8AC3E}">
        <p14:creationId xmlns:p14="http://schemas.microsoft.com/office/powerpoint/2010/main" val="33634156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C5993E-E10A-A766-30F3-38FF4B784B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/>
              <a:t>Data Structures and Their Role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48AC51D-E5A6-7140-9827-236743AAC2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2125961"/>
              </p:ext>
            </p:extLst>
          </p:nvPr>
        </p:nvGraphicFramePr>
        <p:xfrm>
          <a:off x="838200" y="1905000"/>
          <a:ext cx="10515600" cy="381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0">
                  <a:extLst>
                    <a:ext uri="{9D8B030D-6E8A-4147-A177-3AD203B41FA5}">
                      <a16:colId xmlns:a16="http://schemas.microsoft.com/office/drawing/2014/main" val="3717849205"/>
                    </a:ext>
                  </a:extLst>
                </a:gridCol>
                <a:gridCol w="4191000">
                  <a:extLst>
                    <a:ext uri="{9D8B030D-6E8A-4147-A177-3AD203B41FA5}">
                      <a16:colId xmlns:a16="http://schemas.microsoft.com/office/drawing/2014/main" val="2173852775"/>
                    </a:ext>
                  </a:extLst>
                </a:gridCol>
                <a:gridCol w="4419600">
                  <a:extLst>
                    <a:ext uri="{9D8B030D-6E8A-4147-A177-3AD203B41FA5}">
                      <a16:colId xmlns:a16="http://schemas.microsoft.com/office/drawing/2014/main" val="1222948905"/>
                    </a:ext>
                  </a:extLst>
                </a:gridCol>
              </a:tblGrid>
              <a:tr h="635000">
                <a:tc>
                  <a:txBody>
                    <a:bodyPr/>
                    <a:lstStyle/>
                    <a:p>
                      <a:r>
                        <a:rPr lang="en-US" sz="1500" b="1">
                          <a:solidFill>
                            <a:srgbClr val="FFFFFF"/>
                          </a:solidFill>
                        </a:rPr>
                        <a:t>Structure</a:t>
                      </a:r>
                    </a:p>
                  </a:txBody>
                  <a:tcPr anchor="ctr">
                    <a:solidFill>
                      <a:srgbClr val="0F6E6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>
                          <a:solidFill>
                            <a:srgbClr val="FFFFFF"/>
                          </a:solidFill>
                        </a:rPr>
                        <a:t>Where it is used</a:t>
                      </a:r>
                    </a:p>
                  </a:txBody>
                  <a:tcPr anchor="ctr">
                    <a:solidFill>
                      <a:srgbClr val="0F6E6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>
                          <a:solidFill>
                            <a:srgbClr val="FFFFFF"/>
                          </a:solidFill>
                        </a:rPr>
                        <a:t>Why it was chosen</a:t>
                      </a:r>
                    </a:p>
                  </a:txBody>
                  <a:tcPr anchor="ctr">
                    <a:solidFill>
                      <a:srgbClr val="0F6E6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7663495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en-US" sz="1400" b="1"/>
                        <a:t>Array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/>
                        <a:t>AccountArray stores up to 100 Account objects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/>
                        <a:t>Fixed-size storage; simple indexed access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36325120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en-US" sz="1400" b="1"/>
                        <a:t>LinkedList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/>
                        <a:t>TransactionManager keeps every deposit/withdrawal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/>
                        <a:t>Fast insertion at the end; order of transactions preserved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80244988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en-US" sz="1400" b="1"/>
                        <a:t>HashMap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/>
                        <a:t>BankManager maps account number to Account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/>
                        <a:t>O(1) search, update and delete by account number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42820779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en-US" sz="1400" b="1"/>
                        <a:t>HashSet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/>
                        <a:t>Holds existing account numbers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/>
                        <a:t>Prevents duplicate account numbers on creation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62419808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en-US" sz="1400" b="1"/>
                        <a:t>TreeMap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/>
                        <a:t>Mirror of the account map, keyed by number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/>
                        <a:t>Lists all accounts automatically sorted by account number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921810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849860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F14A6-DBC4-8A68-2F16-9515EB31FA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/>
              <a:t>Swing Interface and Operations</a:t>
            </a:r>
          </a:p>
        </p:txBody>
      </p:sp>
      <p:sp>
        <p:nvSpPr>
          <p:cNvPr id="70" name="G71"/>
          <p:cNvSpPr/>
          <p:nvPr/>
        </p:nvSpPr>
        <p:spPr>
          <a:xfrm>
            <a:off x="838200" y="1905000"/>
            <a:ext cx="5080000" cy="304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1"/>
            </a:solidFill>
          </a:ln>
        </p:spPr>
        <p:txBody>
          <a:bodyPr wrap="square" lIns="91440" tIns="54000" rIns="91440" bIns="54000" anchor="t">
            <a:normAutofit/>
          </a:bodyPr>
          <a:lstStyle/>
          <a:p>
            <a:endParaRPr/>
          </a:p>
        </p:txBody>
      </p:sp>
      <p:sp>
        <p:nvSpPr>
          <p:cNvPr id="71" name="G72"/>
          <p:cNvSpPr/>
          <p:nvPr/>
        </p:nvSpPr>
        <p:spPr>
          <a:xfrm>
            <a:off x="838200" y="1905000"/>
            <a:ext cx="5080000" cy="508000"/>
          </a:xfrm>
          <a:prstGeom prst="rect">
            <a:avLst/>
          </a:prstGeom>
          <a:solidFill>
            <a:srgbClr val="0F6E62"/>
          </a:solidFill>
          <a:ln>
            <a:noFill/>
          </a:ln>
        </p:spPr>
        <p:txBody>
          <a:bodyPr wrap="square" lIns="91440" tIns="54000" rIns="91440" bIns="54000" anchor="ctr">
            <a:norm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FFFFFF"/>
                </a:solidFill>
              </a:rPr>
              <a:t>Input panel (JFrame, null layout)</a:t>
            </a:r>
          </a:p>
        </p:txBody>
      </p:sp>
      <p:sp>
        <p:nvSpPr>
          <p:cNvPr id="72" name="G73"/>
          <p:cNvSpPr/>
          <p:nvPr/>
        </p:nvSpPr>
        <p:spPr>
          <a:xfrm>
            <a:off x="1092200" y="2540000"/>
            <a:ext cx="1905000" cy="330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54000" rIns="91440" bIns="54000" anchor="ctr">
            <a:norm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en-US" sz="1300" b="0" dirty="0">
                <a:solidFill>
                  <a:srgbClr val="243840"/>
                </a:solidFill>
              </a:rPr>
              <a:t>Account Number</a:t>
            </a:r>
          </a:p>
        </p:txBody>
      </p:sp>
      <p:sp>
        <p:nvSpPr>
          <p:cNvPr id="73" name="G74"/>
          <p:cNvSpPr/>
          <p:nvPr/>
        </p:nvSpPr>
        <p:spPr>
          <a:xfrm>
            <a:off x="3048000" y="2540000"/>
            <a:ext cx="2616200" cy="330200"/>
          </a:xfrm>
          <a:prstGeom prst="roundRect">
            <a:avLst/>
          </a:prstGeom>
          <a:solidFill>
            <a:srgbClr val="F1F5F6"/>
          </a:solidFill>
          <a:ln w="12700">
            <a:solidFill>
              <a:srgbClr val="C6D2D6"/>
            </a:solidFill>
          </a:ln>
        </p:spPr>
        <p:txBody>
          <a:bodyPr wrap="square" lIns="91440" tIns="54000" rIns="91440" bIns="54000" anchor="ctr">
            <a:normAutofit fontScale="85000" lnSpcReduction="20000"/>
          </a:bodyPr>
          <a:lstStyle/>
          <a:p>
            <a:endParaRPr/>
          </a:p>
        </p:txBody>
      </p:sp>
      <p:sp>
        <p:nvSpPr>
          <p:cNvPr id="74" name="G75"/>
          <p:cNvSpPr/>
          <p:nvPr/>
        </p:nvSpPr>
        <p:spPr>
          <a:xfrm>
            <a:off x="1092200" y="2971800"/>
            <a:ext cx="1905000" cy="330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54000" rIns="91440" bIns="54000" anchor="ctr">
            <a:norm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en-US" sz="1300" b="0" dirty="0">
                <a:solidFill>
                  <a:srgbClr val="243840"/>
                </a:solidFill>
              </a:rPr>
              <a:t>Customer Name</a:t>
            </a:r>
          </a:p>
        </p:txBody>
      </p:sp>
      <p:sp>
        <p:nvSpPr>
          <p:cNvPr id="75" name="G76"/>
          <p:cNvSpPr/>
          <p:nvPr/>
        </p:nvSpPr>
        <p:spPr>
          <a:xfrm>
            <a:off x="3048000" y="2971800"/>
            <a:ext cx="2616200" cy="330200"/>
          </a:xfrm>
          <a:prstGeom prst="roundRect">
            <a:avLst/>
          </a:prstGeom>
          <a:solidFill>
            <a:srgbClr val="F1F5F6"/>
          </a:solidFill>
          <a:ln w="12700">
            <a:solidFill>
              <a:srgbClr val="C6D2D6"/>
            </a:solidFill>
          </a:ln>
        </p:spPr>
        <p:txBody>
          <a:bodyPr wrap="square" lIns="91440" tIns="54000" rIns="91440" bIns="54000" anchor="ctr">
            <a:normAutofit fontScale="85000" lnSpcReduction="20000"/>
          </a:bodyPr>
          <a:lstStyle/>
          <a:p>
            <a:endParaRPr/>
          </a:p>
        </p:txBody>
      </p:sp>
      <p:sp>
        <p:nvSpPr>
          <p:cNvPr id="76" name="G77"/>
          <p:cNvSpPr/>
          <p:nvPr/>
        </p:nvSpPr>
        <p:spPr>
          <a:xfrm>
            <a:off x="1092200" y="3403600"/>
            <a:ext cx="1905000" cy="330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54000" rIns="91440" bIns="54000" anchor="ctr">
            <a:norm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en-US" sz="1300" b="0" dirty="0">
                <a:solidFill>
                  <a:srgbClr val="243840"/>
                </a:solidFill>
              </a:rPr>
              <a:t>Phone</a:t>
            </a:r>
          </a:p>
        </p:txBody>
      </p:sp>
      <p:sp>
        <p:nvSpPr>
          <p:cNvPr id="77" name="G78"/>
          <p:cNvSpPr/>
          <p:nvPr/>
        </p:nvSpPr>
        <p:spPr>
          <a:xfrm>
            <a:off x="3048000" y="3403600"/>
            <a:ext cx="2616200" cy="330200"/>
          </a:xfrm>
          <a:prstGeom prst="roundRect">
            <a:avLst/>
          </a:prstGeom>
          <a:solidFill>
            <a:srgbClr val="F1F5F6"/>
          </a:solidFill>
          <a:ln w="12700">
            <a:solidFill>
              <a:srgbClr val="C6D2D6"/>
            </a:solidFill>
          </a:ln>
        </p:spPr>
        <p:txBody>
          <a:bodyPr wrap="square" lIns="91440" tIns="54000" rIns="91440" bIns="54000" anchor="ctr">
            <a:normAutofit fontScale="85000" lnSpcReduction="20000"/>
          </a:bodyPr>
          <a:lstStyle/>
          <a:p>
            <a:endParaRPr/>
          </a:p>
        </p:txBody>
      </p:sp>
      <p:sp>
        <p:nvSpPr>
          <p:cNvPr id="78" name="G79"/>
          <p:cNvSpPr/>
          <p:nvPr/>
        </p:nvSpPr>
        <p:spPr>
          <a:xfrm>
            <a:off x="1092200" y="3835400"/>
            <a:ext cx="1905000" cy="330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54000" rIns="91440" bIns="54000" anchor="ctr">
            <a:norm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en-US" sz="1300" b="0" dirty="0">
                <a:solidFill>
                  <a:srgbClr val="243840"/>
                </a:solidFill>
              </a:rPr>
              <a:t>Account Type</a:t>
            </a:r>
          </a:p>
        </p:txBody>
      </p:sp>
      <p:sp>
        <p:nvSpPr>
          <p:cNvPr id="79" name="G80"/>
          <p:cNvSpPr/>
          <p:nvPr/>
        </p:nvSpPr>
        <p:spPr>
          <a:xfrm>
            <a:off x="3048000" y="3835400"/>
            <a:ext cx="2616200" cy="330200"/>
          </a:xfrm>
          <a:prstGeom prst="roundRect">
            <a:avLst/>
          </a:prstGeom>
          <a:solidFill>
            <a:srgbClr val="F1F5F6"/>
          </a:solidFill>
          <a:ln w="12700">
            <a:solidFill>
              <a:srgbClr val="C6D2D6"/>
            </a:solidFill>
          </a:ln>
        </p:spPr>
        <p:txBody>
          <a:bodyPr wrap="square" lIns="91440" tIns="54000" rIns="91440" bIns="54000" anchor="ctr">
            <a:normAutofit lnSpcReduction="10000"/>
          </a:bodyPr>
          <a:lstStyle/>
          <a:p>
            <a:pPr algn="l">
              <a:spcAft>
                <a:spcPts val="300"/>
              </a:spcAft>
              <a:buNone/>
            </a:pPr>
            <a:r>
              <a:rPr lang="en-US" sz="1300" b="0" dirty="0">
                <a:solidFill>
                  <a:srgbClr val="243840"/>
                </a:solidFill>
              </a:rPr>
              <a:t>Savings  /  Current   ▾</a:t>
            </a:r>
          </a:p>
        </p:txBody>
      </p:sp>
      <p:sp>
        <p:nvSpPr>
          <p:cNvPr id="80" name="G81"/>
          <p:cNvSpPr/>
          <p:nvPr/>
        </p:nvSpPr>
        <p:spPr>
          <a:xfrm>
            <a:off x="1092200" y="4267200"/>
            <a:ext cx="1905000" cy="330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54000" rIns="91440" bIns="54000" anchor="ctr">
            <a:norm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en-US" sz="1300" b="0" dirty="0">
                <a:solidFill>
                  <a:srgbClr val="243840"/>
                </a:solidFill>
              </a:rPr>
              <a:t>Amount</a:t>
            </a:r>
          </a:p>
        </p:txBody>
      </p:sp>
      <p:sp>
        <p:nvSpPr>
          <p:cNvPr id="81" name="G82"/>
          <p:cNvSpPr/>
          <p:nvPr/>
        </p:nvSpPr>
        <p:spPr>
          <a:xfrm>
            <a:off x="3048000" y="4267200"/>
            <a:ext cx="2616200" cy="330200"/>
          </a:xfrm>
          <a:prstGeom prst="roundRect">
            <a:avLst/>
          </a:prstGeom>
          <a:solidFill>
            <a:srgbClr val="F1F5F6"/>
          </a:solidFill>
          <a:ln w="12700">
            <a:solidFill>
              <a:srgbClr val="C6D2D6"/>
            </a:solidFill>
          </a:ln>
        </p:spPr>
        <p:txBody>
          <a:bodyPr wrap="square" lIns="91440" tIns="54000" rIns="91440" bIns="54000" anchor="ctr">
            <a:normAutofit fontScale="85000" lnSpcReduction="20000"/>
          </a:bodyPr>
          <a:lstStyle/>
          <a:p>
            <a:endParaRPr/>
          </a:p>
        </p:txBody>
      </p:sp>
      <p:sp>
        <p:nvSpPr>
          <p:cNvPr id="82" name="G83"/>
          <p:cNvSpPr/>
          <p:nvPr/>
        </p:nvSpPr>
        <p:spPr>
          <a:xfrm>
            <a:off x="6223000" y="1905000"/>
            <a:ext cx="5130800" cy="304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1"/>
            </a:solidFill>
          </a:ln>
        </p:spPr>
        <p:txBody>
          <a:bodyPr wrap="square" lIns="91440" tIns="54000" rIns="91440" bIns="54000" anchor="t">
            <a:normAutofit/>
          </a:bodyPr>
          <a:lstStyle/>
          <a:p>
            <a:endParaRPr/>
          </a:p>
        </p:txBody>
      </p:sp>
      <p:sp>
        <p:nvSpPr>
          <p:cNvPr id="83" name="G84"/>
          <p:cNvSpPr/>
          <p:nvPr/>
        </p:nvSpPr>
        <p:spPr>
          <a:xfrm>
            <a:off x="6223000" y="1905000"/>
            <a:ext cx="5130800" cy="508000"/>
          </a:xfrm>
          <a:prstGeom prst="rect">
            <a:avLst/>
          </a:prstGeom>
          <a:solidFill>
            <a:srgbClr val="3A6EA5"/>
          </a:solidFill>
          <a:ln>
            <a:noFill/>
          </a:ln>
        </p:spPr>
        <p:txBody>
          <a:bodyPr wrap="square" lIns="91440" tIns="54000" rIns="91440" bIns="54000" anchor="ctr">
            <a:norm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FFFFFF"/>
                </a:solidFill>
              </a:rPr>
              <a:t>Ten buttons, one ActionListener</a:t>
            </a:r>
          </a:p>
        </p:txBody>
      </p:sp>
      <p:sp>
        <p:nvSpPr>
          <p:cNvPr id="84" name="G85"/>
          <p:cNvSpPr/>
          <p:nvPr/>
        </p:nvSpPr>
        <p:spPr>
          <a:xfrm>
            <a:off x="6350000" y="2489200"/>
            <a:ext cx="4876800" cy="2413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54000" rIns="91440" bIns="54000" anchor="t">
            <a:normAutofit/>
          </a:bodyPr>
          <a:lstStyle/>
          <a:p>
            <a:pPr marL="200025" indent="-200025">
              <a:spcAft>
                <a:spcPts val="500"/>
              </a:spcAft>
              <a:buFont typeface="Arial"/>
              <a:buChar char="•"/>
            </a:pPr>
            <a:r>
              <a:rPr lang="en-US" sz="1400" dirty="0">
                <a:solidFill>
                  <a:srgbClr val="243840"/>
                </a:solidFill>
              </a:rPr>
              <a:t>Create, Search, Update, Delete account</a:t>
            </a:r>
          </a:p>
          <a:p>
            <a:pPr marL="200025" indent="-200025">
              <a:spcAft>
                <a:spcPts val="500"/>
              </a:spcAft>
              <a:buFont typeface="Arial"/>
              <a:buChar char="•"/>
            </a:pPr>
            <a:r>
              <a:rPr lang="en-US" sz="1400" dirty="0">
                <a:solidFill>
                  <a:srgbClr val="243840"/>
                </a:solidFill>
              </a:rPr>
              <a:t>Deposit and Withdraw with amount checks</a:t>
            </a:r>
          </a:p>
          <a:p>
            <a:pPr marL="200025" indent="-200025">
              <a:spcAft>
                <a:spcPts val="500"/>
              </a:spcAft>
              <a:buFont typeface="Arial"/>
              <a:buChar char="•"/>
            </a:pPr>
            <a:r>
              <a:rPr lang="en-US" sz="1400" dirty="0">
                <a:solidFill>
                  <a:srgbClr val="243840"/>
                </a:solidFill>
              </a:rPr>
              <a:t>Transactions — view the LinkedList history</a:t>
            </a:r>
          </a:p>
          <a:p>
            <a:pPr marL="200025" indent="-200025">
              <a:spcAft>
                <a:spcPts val="500"/>
              </a:spcAft>
              <a:buFont typeface="Arial"/>
              <a:buChar char="•"/>
            </a:pPr>
            <a:r>
              <a:rPr lang="en-US" sz="1400" dirty="0">
                <a:solidFill>
                  <a:srgbClr val="243840"/>
                </a:solidFill>
              </a:rPr>
              <a:t>Save File / Read File — transactions.txt</a:t>
            </a:r>
          </a:p>
          <a:p>
            <a:pPr marL="200025" indent="-200025">
              <a:spcAft>
                <a:spcPts val="500"/>
              </a:spcAft>
              <a:buFont typeface="Arial"/>
              <a:buChar char="•"/>
            </a:pPr>
            <a:r>
              <a:rPr lang="en-US" sz="1400" dirty="0">
                <a:solidFill>
                  <a:srgbClr val="243840"/>
                </a:solidFill>
              </a:rPr>
              <a:t>All Accounts — sorted TreeMap listing</a:t>
            </a:r>
          </a:p>
        </p:txBody>
      </p:sp>
      <p:sp>
        <p:nvSpPr>
          <p:cNvPr id="85" name="G86"/>
          <p:cNvSpPr/>
          <p:nvPr/>
        </p:nvSpPr>
        <p:spPr>
          <a:xfrm>
            <a:off x="838200" y="5143500"/>
            <a:ext cx="10515600" cy="838200"/>
          </a:xfrm>
          <a:prstGeom prst="roundRect">
            <a:avLst/>
          </a:prstGeom>
          <a:solidFill>
            <a:srgbClr val="FDF3E7"/>
          </a:solidFill>
          <a:ln w="12700">
            <a:solidFill>
              <a:srgbClr val="A35C13"/>
            </a:solidFill>
          </a:ln>
        </p:spPr>
        <p:txBody>
          <a:bodyPr wrap="square" lIns="91440" tIns="54000" rIns="91440" bIns="54000" anchor="ctr">
            <a:normAutofit lnSpcReduction="10000"/>
          </a:bodyPr>
          <a:lstStyle/>
          <a:p>
            <a:pPr algn="l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A35C13"/>
                </a:solidFill>
              </a:rPr>
              <a:t>Validation and exception handling</a:t>
            </a:r>
          </a:p>
          <a:p>
            <a:pPr algn="l">
              <a:spcAft>
                <a:spcPts val="300"/>
              </a:spcAft>
              <a:buNone/>
            </a:pPr>
            <a:r>
              <a:rPr lang="en-US" sz="1400" b="0" dirty="0">
                <a:solidFill>
                  <a:srgbClr val="243840"/>
                </a:solidFill>
              </a:rPr>
              <a:t>NumberFormatException for non-numeric input, empty-field checks, duplicate account numbers, insufficient balance and FileNotFoundException are all caught and reported through JOptionPane dialogs.</a:t>
            </a:r>
          </a:p>
        </p:txBody>
      </p:sp>
    </p:spTree>
    <p:extLst>
      <p:ext uri="{BB962C8B-B14F-4D97-AF65-F5344CB8AC3E}">
        <p14:creationId xmlns:p14="http://schemas.microsoft.com/office/powerpoint/2010/main" val="23898914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41F40-D90C-07AD-CAAF-CEE33EEBA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/>
              <a:t>Testing and Conclusion</a:t>
            </a:r>
          </a:p>
        </p:txBody>
      </p:sp>
      <p:sp>
        <p:nvSpPr>
          <p:cNvPr id="80" name="T81"/>
          <p:cNvSpPr/>
          <p:nvPr/>
        </p:nvSpPr>
        <p:spPr>
          <a:xfrm>
            <a:off x="838200" y="1905000"/>
            <a:ext cx="5334000" cy="381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1"/>
            </a:solidFill>
          </a:ln>
        </p:spPr>
        <p:txBody>
          <a:bodyPr wrap="square" lIns="114300" tIns="68580" rIns="114300" bIns="68580" anchor="t">
            <a:normAutofit/>
          </a:bodyPr>
          <a:lstStyle/>
          <a:p>
            <a:endParaRPr/>
          </a:p>
        </p:txBody>
      </p:sp>
      <p:sp>
        <p:nvSpPr>
          <p:cNvPr id="81" name="T82"/>
          <p:cNvSpPr/>
          <p:nvPr/>
        </p:nvSpPr>
        <p:spPr>
          <a:xfrm>
            <a:off x="838200" y="1905000"/>
            <a:ext cx="5334000" cy="508000"/>
          </a:xfrm>
          <a:prstGeom prst="rect">
            <a:avLst/>
          </a:prstGeom>
          <a:solidFill>
            <a:srgbClr val="0F6E62"/>
          </a:solidFill>
          <a:ln>
            <a:noFill/>
          </a:ln>
        </p:spPr>
        <p:txBody>
          <a:bodyPr wrap="square" lIns="114300" tIns="68580" rIns="114300" bIns="68580" anchor="ctr">
            <a:normAutofit/>
          </a:bodyPr>
          <a:lstStyle/>
          <a:p>
            <a:pPr algn="ctr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FFFF"/>
                </a:solidFill>
              </a:rPr>
              <a:t>Test cases executed</a:t>
            </a:r>
          </a:p>
        </p:txBody>
      </p:sp>
      <p:sp>
        <p:nvSpPr>
          <p:cNvPr id="82" name="T83"/>
          <p:cNvSpPr/>
          <p:nvPr/>
        </p:nvSpPr>
        <p:spPr>
          <a:xfrm>
            <a:off x="965200" y="2489200"/>
            <a:ext cx="5130800" cy="31242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68580" rIns="114300" bIns="68580" anchor="t">
            <a:normAutofit/>
          </a:bodyPr>
          <a:lstStyle/>
          <a:p>
            <a:pPr marL="200025" indent="-200025">
              <a:spcAft>
                <a:spcPts val="500"/>
              </a:spcAft>
              <a:buFont typeface="Arial"/>
              <a:buChar char="✓"/>
            </a:pPr>
            <a:r>
              <a:rPr lang="en-US" sz="1400" dirty="0">
                <a:solidFill>
                  <a:srgbClr val="243840"/>
                </a:solidFill>
              </a:rPr>
              <a:t>Create account with duplicate number — rejected</a:t>
            </a:r>
          </a:p>
          <a:p>
            <a:pPr marL="200025" indent="-200025">
              <a:spcAft>
                <a:spcPts val="500"/>
              </a:spcAft>
              <a:buFont typeface="Arial"/>
              <a:buChar char="✓"/>
            </a:pPr>
            <a:r>
              <a:rPr lang="en-US" sz="1400" dirty="0">
                <a:solidFill>
                  <a:srgbClr val="243840"/>
                </a:solidFill>
              </a:rPr>
              <a:t>Deposit of 5000 — balance updated correctly</a:t>
            </a:r>
          </a:p>
          <a:p>
            <a:pPr marL="200025" indent="-200025">
              <a:spcAft>
                <a:spcPts val="500"/>
              </a:spcAft>
              <a:buFont typeface="Arial"/>
              <a:buChar char="✓"/>
            </a:pPr>
            <a:r>
              <a:rPr lang="en-US" sz="1400" dirty="0">
                <a:solidFill>
                  <a:srgbClr val="243840"/>
                </a:solidFill>
              </a:rPr>
              <a:t>Withdrawal above balance — insufficient funds message</a:t>
            </a:r>
          </a:p>
          <a:p>
            <a:pPr marL="200025" indent="-200025">
              <a:spcAft>
                <a:spcPts val="500"/>
              </a:spcAft>
              <a:buFont typeface="Arial"/>
              <a:buChar char="✓"/>
            </a:pPr>
            <a:r>
              <a:rPr lang="en-US" sz="1400" dirty="0">
                <a:solidFill>
                  <a:srgbClr val="243840"/>
                </a:solidFill>
              </a:rPr>
              <a:t>Search by account number — details displayed</a:t>
            </a:r>
          </a:p>
          <a:p>
            <a:pPr marL="200025" indent="-200025">
              <a:spcAft>
                <a:spcPts val="500"/>
              </a:spcAft>
              <a:buFont typeface="Arial"/>
              <a:buChar char="✓"/>
            </a:pPr>
            <a:r>
              <a:rPr lang="en-US" sz="1400" dirty="0">
                <a:solidFill>
                  <a:srgbClr val="243840"/>
                </a:solidFill>
              </a:rPr>
              <a:t>Update name, phone and type — record changed</a:t>
            </a:r>
          </a:p>
          <a:p>
            <a:pPr marL="200025" indent="-200025">
              <a:spcAft>
                <a:spcPts val="500"/>
              </a:spcAft>
              <a:buFont typeface="Arial"/>
              <a:buChar char="✓"/>
            </a:pPr>
            <a:r>
              <a:rPr lang="en-US" sz="1400" dirty="0">
                <a:solidFill>
                  <a:srgbClr val="243840"/>
                </a:solidFill>
              </a:rPr>
              <a:t>Delete account — removed from all collections</a:t>
            </a:r>
          </a:p>
          <a:p>
            <a:pPr marL="200025" indent="-200025">
              <a:spcAft>
                <a:spcPts val="500"/>
              </a:spcAft>
              <a:buFont typeface="Arial"/>
              <a:buChar char="✓"/>
            </a:pPr>
            <a:r>
              <a:rPr lang="en-US" sz="1400" dirty="0">
                <a:solidFill>
                  <a:srgbClr val="243840"/>
                </a:solidFill>
              </a:rPr>
              <a:t>Save then read transactions.txt — data matches</a:t>
            </a:r>
          </a:p>
          <a:p>
            <a:pPr marL="200025" indent="-200025">
              <a:spcAft>
                <a:spcPts val="500"/>
              </a:spcAft>
              <a:buFont typeface="Arial"/>
              <a:buChar char="✓"/>
            </a:pPr>
            <a:r>
              <a:rPr lang="en-US" sz="1400" dirty="0">
                <a:solidFill>
                  <a:srgbClr val="243840"/>
                </a:solidFill>
              </a:rPr>
              <a:t>Text entered in amount field — error dialog shown</a:t>
            </a:r>
          </a:p>
        </p:txBody>
      </p:sp>
      <p:sp>
        <p:nvSpPr>
          <p:cNvPr id="83" name="T84"/>
          <p:cNvSpPr/>
          <p:nvPr/>
        </p:nvSpPr>
        <p:spPr>
          <a:xfrm>
            <a:off x="6400800" y="1905000"/>
            <a:ext cx="4953000" cy="3810000"/>
          </a:xfrm>
          <a:prstGeom prst="roundRect">
            <a:avLst/>
          </a:prstGeom>
          <a:solidFill>
            <a:srgbClr val="EDF3F2"/>
          </a:solidFill>
          <a:ln w="12700">
            <a:solidFill>
              <a:srgbClr val="0F6E62"/>
            </a:solidFill>
          </a:ln>
        </p:spPr>
        <p:txBody>
          <a:bodyPr wrap="square" lIns="114300" tIns="68580" rIns="114300" bIns="68580" anchor="t">
            <a:norm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0F6E62"/>
                </a:solidFill>
              </a:rPr>
              <a:t>Conclusion</a:t>
            </a:r>
          </a:p>
          <a:p>
            <a:pPr algn="l">
              <a:spcAft>
                <a:spcPts val="300"/>
              </a:spcAft>
              <a:buNone/>
            </a:pPr>
            <a:r>
              <a:rPr lang="en-US" sz="1400" b="0" dirty="0">
                <a:solidFill>
                  <a:srgbClr val="243840"/>
                </a:solidFill>
              </a:rPr>
              <a:t>The project delivers a working banking application and shows how core Java fits together in one system.</a:t>
            </a:r>
          </a:p>
          <a:p>
            <a:pPr algn="l">
              <a:spcAft>
                <a:spcPts val="300"/>
              </a:spcAft>
              <a:buNone/>
            </a:pPr>
            <a:r>
              <a:rPr lang="en-US" sz="1400" b="0" dirty="0">
                <a:solidFill>
                  <a:srgbClr val="243840"/>
                </a:solidFill>
              </a:rPr>
              <a:t>Classes and objects model real banking entities; collections give the right storage for each need; file handling makes transaction data persistent; and Swing with event handling turns it into a usable tool for bank employees.</a:t>
            </a:r>
          </a:p>
          <a:p>
            <a:pPr algn="l">
              <a:spcAft>
                <a:spcPts val="400"/>
              </a:spcAft>
              <a:buNone/>
            </a:pPr>
            <a:r>
              <a:rPr lang="en-US" sz="1400" b="0" dirty="0">
                <a:solidFill>
                  <a:srgbClr val="2B4A55"/>
                </a:solidFill>
              </a:rPr>
              <a:t>Future scope: database storage, interest calculation and login-based access control.</a:t>
            </a:r>
          </a:p>
        </p:txBody>
      </p:sp>
    </p:spTree>
    <p:extLst>
      <p:ext uri="{BB962C8B-B14F-4D97-AF65-F5344CB8AC3E}">
        <p14:creationId xmlns:p14="http://schemas.microsoft.com/office/powerpoint/2010/main" val="422261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[1789967904391]">
  <a:themeElements>
    <a:clrScheme name="Office">
      <a:dk1>
        <a:srgbClr val="14242C"/>
      </a:dk1>
      <a:lt1>
        <a:srgbClr val="F7F9FA"/>
      </a:lt1>
      <a:dk2>
        <a:srgbClr val="2B4A55"/>
      </a:dk2>
      <a:lt2>
        <a:srgbClr val="E3EAEC"/>
      </a:lt2>
      <a:accent1>
        <a:srgbClr val="0F6E62"/>
      </a:accent1>
      <a:accent2>
        <a:srgbClr val="C97B2B"/>
      </a:accent2>
      <a:accent3>
        <a:srgbClr val="3A6EA5"/>
      </a:accent3>
      <a:accent4>
        <a:srgbClr val="7A8B93"/>
      </a:accent4>
      <a:accent5>
        <a:srgbClr val="5B8C5A"/>
      </a:accent5>
      <a:accent6>
        <a:srgbClr val="A34A4A"/>
      </a:accent6>
      <a:hlink>
        <a:srgbClr val="467886"/>
      </a:hlink>
      <a:folHlink>
        <a:srgbClr val="96607D"/>
      </a:folHlink>
    </a:clrScheme>
    <a:fontScheme name="Office">
      <a:majorFont>
        <a:latin typeface="Corbel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CB232EBB-35D0-334A-8549-C497778CE304}">
  <we:reference id="wa200010725" version="1.0.0.1" store="en-US" storeType="OMEX"/>
  <we:alternateReferences>
    <we:reference id="wa200010725" version="1.0.0.1" store="wa200010725" storeType="OMEX"/>
  </we:alternateReferences>
  <we:properties>
    <we:property name="claude.fileId" value="&quot;8cb10883-bf61-4311-a161-51ec69fb3fbd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678</Words>
  <Application>Microsoft Macintosh PowerPoint</Application>
  <PresentationFormat>Widescreen</PresentationFormat>
  <Paragraphs>111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Corbel</vt:lpstr>
      <vt:lpstr>Segoe UI</vt:lpstr>
      <vt:lpstr>Office Theme [1789967904391]</vt:lpstr>
      <vt:lpstr>Bank Account Management System</vt:lpstr>
      <vt:lpstr>Problem Statement</vt:lpstr>
      <vt:lpstr>Objectives</vt:lpstr>
      <vt:lpstr>System Architecture</vt:lpstr>
      <vt:lpstr>Data and Function Flow</vt:lpstr>
      <vt:lpstr>OOP Design: Classes and Objects</vt:lpstr>
      <vt:lpstr>Data Structures and Their Role</vt:lpstr>
      <vt:lpstr>Swing Interface and Operations</vt:lpstr>
      <vt:lpstr>Testing and 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Ashutosh Pawar</dc:creator>
  <cp:lastModifiedBy>Ashutosh Pawar</cp:lastModifiedBy>
  <cp:revision>3</cp:revision>
  <dcterms:created xsi:type="dcterms:W3CDTF">2026-09-21T05:12:15Z</dcterms:created>
  <dcterms:modified xsi:type="dcterms:W3CDTF">2026-09-21T05:26:29Z</dcterms:modified>
</cp:coreProperties>
</file>